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68" r:id="rId3"/>
    <p:sldId id="283" r:id="rId4"/>
    <p:sldId id="257" r:id="rId5"/>
    <p:sldId id="284" r:id="rId6"/>
    <p:sldId id="258" r:id="rId7"/>
    <p:sldId id="285" r:id="rId8"/>
    <p:sldId id="270" r:id="rId9"/>
    <p:sldId id="286" r:id="rId10"/>
    <p:sldId id="271" r:id="rId11"/>
    <p:sldId id="272" r:id="rId12"/>
    <p:sldId id="288" r:id="rId13"/>
    <p:sldId id="289" r:id="rId14"/>
    <p:sldId id="277" r:id="rId15"/>
    <p:sldId id="273" r:id="rId16"/>
    <p:sldId id="290" r:id="rId17"/>
    <p:sldId id="291" r:id="rId18"/>
    <p:sldId id="292" r:id="rId19"/>
    <p:sldId id="281" r:id="rId20"/>
    <p:sldId id="282" r:id="rId21"/>
    <p:sldId id="29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D9"/>
    <a:srgbClr val="1B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1FBD82-D51F-4967-AEB9-BFE3925BE119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D211D77-B8D3-4404-844E-80F90FD6EC07}">
      <dgm:prSet phldrT="[Text]" custT="1"/>
      <dgm:spPr/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Collection</a:t>
          </a:r>
        </a:p>
      </dgm:t>
    </dgm:pt>
    <dgm:pt modelId="{1D01126A-78E4-487F-8F92-06C1EBEF3371}" type="parTrans" cxnId="{8F85A434-2FCC-4367-8A59-F69321E0397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BCDE35-4C12-4D1C-85E2-03B22C727310}" type="sibTrans" cxnId="{8F85A434-2FCC-4367-8A59-F69321E0397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6F3501-E2C0-4BB2-BC59-778FC36394F0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Imported sales transaction data</a:t>
          </a:r>
        </a:p>
      </dgm:t>
    </dgm:pt>
    <dgm:pt modelId="{AF93F19E-40BC-496D-A338-60F52E4D267C}" type="parTrans" cxnId="{348E8F80-A5A2-40C6-BCA8-25918601D5D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F8DC3-0D48-422D-9E38-232624CA96BA}" type="sibTrans" cxnId="{348E8F80-A5A2-40C6-BCA8-25918601D5D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B5E289-C7B3-4CB6-A91A-FA0F7210BE54}">
      <dgm:prSet phldrT="[Text]" custT="1"/>
      <dgm:spPr/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Preparation</a:t>
          </a:r>
        </a:p>
      </dgm:t>
    </dgm:pt>
    <dgm:pt modelId="{DED6E6CB-A1C3-49BB-AF61-3FB50F191F9E}" type="parTrans" cxnId="{7668DE7E-6695-4A93-8A8E-9770DCD42810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B0EBD0-D241-4089-9EC3-EACD51616604}" type="sibTrans" cxnId="{7668DE7E-6695-4A93-8A8E-9770DCD42810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35ACCB-4B2B-49CB-99BF-42519AB37CB0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 missing / null values</a:t>
          </a:r>
        </a:p>
      </dgm:t>
    </dgm:pt>
    <dgm:pt modelId="{7B2EC26C-A48E-4458-9A9A-9D9A8CBC44BF}" type="parTrans" cxnId="{319FF684-1040-4C09-ADD8-2B10A2D8774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9615E1-7653-4967-9ADD-C85E9304592B}" type="sibTrans" cxnId="{319FF684-1040-4C09-ADD8-2B10A2D8774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7932D9-5E86-42C2-AB68-B2FBEFB28444}">
      <dgm:prSet phldrT="[Text]" custT="1"/>
      <dgm:spPr/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KPI Development</a:t>
          </a:r>
        </a:p>
      </dgm:t>
    </dgm:pt>
    <dgm:pt modelId="{86A5B9D9-14AA-4479-B92E-141AF70CE22E}" type="parTrans" cxnId="{298DD442-A48A-4A10-8F8A-29660DDB253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17DA9D-C4CE-43C5-86BB-EF6853D37A02}" type="sibTrans" cxnId="{298DD442-A48A-4A10-8F8A-29660DDB253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B94A71-06D8-4009-B524-13A232C77FAA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Total Revenue</a:t>
          </a:r>
        </a:p>
      </dgm:t>
    </dgm:pt>
    <dgm:pt modelId="{D77D8D14-08F0-4EF1-B0C7-37789AF472E9}" type="parTrans" cxnId="{3014D9B9-F0FF-4249-B174-BF489DF109F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44E923-4D13-4FF5-916A-8FBFDEB1AA8A}" type="sibTrans" cxnId="{3014D9B9-F0FF-4249-B174-BF489DF109F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CC44E4-2129-4906-8AC3-63F9BA290A41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Customer Count</a:t>
          </a:r>
        </a:p>
      </dgm:t>
    </dgm:pt>
    <dgm:pt modelId="{243BB3C7-9289-4316-9512-925F86C1CD37}" type="parTrans" cxnId="{95F9749F-9BEF-4808-8788-71C1AAD8521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C62A36-AFEB-4305-954A-72F371B3A85C}" type="sibTrans" cxnId="{95F9749F-9BEF-4808-8788-71C1AAD8521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F0C6BA-3C9A-4987-9300-1F66252A1B9C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 Design</a:t>
          </a:r>
        </a:p>
      </dgm:t>
    </dgm:pt>
    <dgm:pt modelId="{6E57946B-8AA9-49DB-A481-FA25D7937D95}" type="parTrans" cxnId="{D5F79763-0801-4E76-A9D9-076DB8515C5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CD59B0-AD5E-489F-9660-2DE26A5DCCB7}" type="sibTrans" cxnId="{D5F79763-0801-4E76-A9D9-076DB8515C5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DF53C6-29BC-4C3C-AC7C-308C0315780C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Age Groups</a:t>
          </a:r>
        </a:p>
      </dgm:t>
    </dgm:pt>
    <dgm:pt modelId="{671D1E4F-090F-4892-A240-F32010FBB0CF}" type="parTrans" cxnId="{31D58186-0993-4BEC-9CAC-3C635AC22E3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B2FAD9-3495-4521-B958-891F83AA3E49}" type="sibTrans" cxnId="{31D58186-0993-4BEC-9CAC-3C635AC22E3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34BC7F-F23E-47FF-A4BA-8B7A9932F875}">
      <dgm:prSet phldrT="[Text]" custT="1"/>
      <dgm:spPr/>
      <dgm:t>
        <a:bodyPr/>
        <a:lstStyle/>
        <a:p>
          <a:pPr>
            <a:buNone/>
          </a:pPr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Revenue by Category/Item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98AE61-F3EC-4111-B4B9-B319774FB438}" type="parTrans" cxnId="{09246874-29F1-4EAD-BEA0-12506D8189F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54B554-A717-44E2-89BF-E59C21CD30F2}" type="sibTrans" cxnId="{09246874-29F1-4EAD-BEA0-12506D8189F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64123D-F85E-441E-8DBD-9C6291F935B1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Category &amp; Item revenue</a:t>
          </a:r>
        </a:p>
      </dgm:t>
    </dgm:pt>
    <dgm:pt modelId="{F66A5B59-F611-4B54-B3EF-9201350F60FE}" type="parTrans" cxnId="{800608C5-1442-4966-820B-3403406EDA53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123D1B-E2C6-43BC-9B45-206134D97375}" type="sibTrans" cxnId="{800608C5-1442-4966-820B-3403406EDA53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17000E-0C71-4DFE-9DA4-1BF947DA5C4C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Seasonal sales visuals</a:t>
          </a:r>
        </a:p>
      </dgm:t>
    </dgm:pt>
    <dgm:pt modelId="{3D971119-1ACB-4604-93BA-CA77447FF1C6}" type="parTrans" cxnId="{E75D1AE9-4A11-4592-B0FE-4AEC0F637316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51FC51-7BD1-43C2-ACD4-C716AECFD3A0}" type="sibTrans" cxnId="{E75D1AE9-4A11-4592-B0FE-4AEC0F637316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AD746F-5904-4D6B-A351-47D71F3FE3B6}">
      <dgm:prSet custT="1"/>
      <dgm:spPr/>
      <dgm:t>
        <a:bodyPr/>
        <a:lstStyle/>
        <a:p>
          <a:pPr>
            <a:buNone/>
          </a:pPr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Top purchased items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D9473E-CB09-4F8E-AA9E-EE656D2B5344}" type="parTrans" cxnId="{601EF10B-7B46-4054-8D2A-6C0E5021F4C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946DBA-7155-43C6-BCCE-66558A21C3F1}" type="sibTrans" cxnId="{601EF10B-7B46-4054-8D2A-6C0E5021F4C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F74A64-D7F0-4163-B031-E2606D3BFEEE}">
      <dgm:prSet custT="1"/>
      <dgm:spPr/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Insights &amp; Reporting</a:t>
          </a:r>
        </a:p>
      </dgm:t>
    </dgm:pt>
    <dgm:pt modelId="{7EFB94B3-BDDE-47D9-B12E-99F9B9A482DB}" type="parTrans" cxnId="{0C004F04-0E7F-4CEC-877D-A3415EC8EBAA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020C83-BF9F-4E28-AA8F-40DE37526897}" type="sibTrans" cxnId="{0C004F04-0E7F-4CEC-877D-A3415EC8EBAA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43FCCE-4BE9-459F-99DB-01FA0BF4614D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top revenue drivers</a:t>
          </a:r>
        </a:p>
      </dgm:t>
    </dgm:pt>
    <dgm:pt modelId="{9BC9367F-CCD7-43A9-8920-E94BB1FD70F8}" type="parTrans" cxnId="{586B399E-C35E-4A9B-8EDF-8A9871AC37F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E9E08F-1406-4F8B-B57C-1883BBA40096}" type="sibTrans" cxnId="{586B399E-C35E-4A9B-8EDF-8A9871AC37F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AD4503-7484-4A3F-8512-149867D40CF2}">
      <dgm:prSet custT="1"/>
      <dgm:spPr/>
      <dgm:t>
        <a:bodyPr/>
        <a:lstStyle/>
        <a:p>
          <a:pPr>
            <a:buNone/>
          </a:pPr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Evaluate product performance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D002B2-35FD-439C-8334-EF79518C36D5}" type="parTrans" cxnId="{F75332D1-455E-48DE-B313-AE75E72125A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C12997-AB57-4C9A-9D91-4BE656757532}" type="sibTrans" cxnId="{F75332D1-455E-48DE-B313-AE75E72125A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E6A870-8990-4EE6-A5E2-4235A9431AC5}">
      <dgm:prSet custT="1"/>
      <dgm:spPr/>
      <dgm:t>
        <a:bodyPr/>
        <a:lstStyle/>
        <a:p>
          <a:pPr>
            <a:buNone/>
          </a:pPr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Support strategic decisions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6893A0-8E59-4B8C-A7FF-13F1D4CDCC90}" type="parTrans" cxnId="{5BF0C7D7-D534-4156-8301-6DBF1870CF05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D8418A-EBC5-41B2-AADA-6207026DF616}" type="sibTrans" cxnId="{5BF0C7D7-D534-4156-8301-6DBF1870CF05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6FA750-4601-4EF5-86F0-CD35D180A7C9}" type="pres">
      <dgm:prSet presAssocID="{DA1FBD82-D51F-4967-AEB9-BFE3925BE119}" presName="Name0" presStyleCnt="0">
        <dgm:presLayoutVars>
          <dgm:dir/>
          <dgm:animLvl val="lvl"/>
          <dgm:resizeHandles val="exact"/>
        </dgm:presLayoutVars>
      </dgm:prSet>
      <dgm:spPr/>
    </dgm:pt>
    <dgm:pt modelId="{56D694D4-330C-4925-B2B6-1C98542E0D9B}" type="pres">
      <dgm:prSet presAssocID="{CAF74A64-D7F0-4163-B031-E2606D3BFEEE}" presName="boxAndChildren" presStyleCnt="0"/>
      <dgm:spPr/>
    </dgm:pt>
    <dgm:pt modelId="{5584F0E7-02B5-439F-8A3F-2CB091816CE7}" type="pres">
      <dgm:prSet presAssocID="{CAF74A64-D7F0-4163-B031-E2606D3BFEEE}" presName="parentTextBox" presStyleLbl="node1" presStyleIdx="0" presStyleCnt="5"/>
      <dgm:spPr/>
    </dgm:pt>
    <dgm:pt modelId="{86C7924B-EF8D-4059-A783-BC39B297D715}" type="pres">
      <dgm:prSet presAssocID="{CAF74A64-D7F0-4163-B031-E2606D3BFEEE}" presName="entireBox" presStyleLbl="node1" presStyleIdx="0" presStyleCnt="5"/>
      <dgm:spPr/>
    </dgm:pt>
    <dgm:pt modelId="{FA76874F-280B-4C21-A9AB-C943CFAA6369}" type="pres">
      <dgm:prSet presAssocID="{CAF74A64-D7F0-4163-B031-E2606D3BFEEE}" presName="descendantBox" presStyleCnt="0"/>
      <dgm:spPr/>
    </dgm:pt>
    <dgm:pt modelId="{0D334693-4F87-4C64-B716-F67B4C9A9CB5}" type="pres">
      <dgm:prSet presAssocID="{F143FCCE-4BE9-459F-99DB-01FA0BF4614D}" presName="childTextBox" presStyleLbl="fgAccFollowNode1" presStyleIdx="0" presStyleCnt="12">
        <dgm:presLayoutVars>
          <dgm:bulletEnabled val="1"/>
        </dgm:presLayoutVars>
      </dgm:prSet>
      <dgm:spPr/>
    </dgm:pt>
    <dgm:pt modelId="{29A07335-ADB8-4EB9-86A9-1C03FF3E73B2}" type="pres">
      <dgm:prSet presAssocID="{20AD4503-7484-4A3F-8512-149867D40CF2}" presName="childTextBox" presStyleLbl="fgAccFollowNode1" presStyleIdx="1" presStyleCnt="12">
        <dgm:presLayoutVars>
          <dgm:bulletEnabled val="1"/>
        </dgm:presLayoutVars>
      </dgm:prSet>
      <dgm:spPr/>
    </dgm:pt>
    <dgm:pt modelId="{7CF5CC63-A37A-4A5E-821E-4C7358FE5EE3}" type="pres">
      <dgm:prSet presAssocID="{95E6A870-8990-4EE6-A5E2-4235A9431AC5}" presName="childTextBox" presStyleLbl="fgAccFollowNode1" presStyleIdx="2" presStyleCnt="12">
        <dgm:presLayoutVars>
          <dgm:bulletEnabled val="1"/>
        </dgm:presLayoutVars>
      </dgm:prSet>
      <dgm:spPr/>
    </dgm:pt>
    <dgm:pt modelId="{D6D12C2E-7CFA-41D9-B468-050CA76CACA9}" type="pres">
      <dgm:prSet presAssocID="{66CD59B0-AD5E-489F-9660-2DE26A5DCCB7}" presName="sp" presStyleCnt="0"/>
      <dgm:spPr/>
    </dgm:pt>
    <dgm:pt modelId="{69256AAD-DDE7-44B1-81B8-E95C59244B84}" type="pres">
      <dgm:prSet presAssocID="{AFF0C6BA-3C9A-4987-9300-1F66252A1B9C}" presName="arrowAndChildren" presStyleCnt="0"/>
      <dgm:spPr/>
    </dgm:pt>
    <dgm:pt modelId="{2D71C952-553D-4642-807E-C4BF83F8E1E6}" type="pres">
      <dgm:prSet presAssocID="{AFF0C6BA-3C9A-4987-9300-1F66252A1B9C}" presName="parentTextArrow" presStyleLbl="node1" presStyleIdx="0" presStyleCnt="5"/>
      <dgm:spPr/>
    </dgm:pt>
    <dgm:pt modelId="{548BFAF4-B614-4D44-B01C-DBF30000D866}" type="pres">
      <dgm:prSet presAssocID="{AFF0C6BA-3C9A-4987-9300-1F66252A1B9C}" presName="arrow" presStyleLbl="node1" presStyleIdx="1" presStyleCnt="5"/>
      <dgm:spPr/>
    </dgm:pt>
    <dgm:pt modelId="{6D16BE3A-DF7A-4ED8-9619-E8AACDC96478}" type="pres">
      <dgm:prSet presAssocID="{AFF0C6BA-3C9A-4987-9300-1F66252A1B9C}" presName="descendantArrow" presStyleCnt="0"/>
      <dgm:spPr/>
    </dgm:pt>
    <dgm:pt modelId="{0CF47D8B-9DE0-4BEE-A17D-72336807D66E}" type="pres">
      <dgm:prSet presAssocID="{2664123D-F85E-441E-8DBD-9C6291F935B1}" presName="childTextArrow" presStyleLbl="fgAccFollowNode1" presStyleIdx="3" presStyleCnt="12">
        <dgm:presLayoutVars>
          <dgm:bulletEnabled val="1"/>
        </dgm:presLayoutVars>
      </dgm:prSet>
      <dgm:spPr/>
    </dgm:pt>
    <dgm:pt modelId="{C6C9E6AF-296C-44B8-866D-AB280DDAC193}" type="pres">
      <dgm:prSet presAssocID="{6B17000E-0C71-4DFE-9DA4-1BF947DA5C4C}" presName="childTextArrow" presStyleLbl="fgAccFollowNode1" presStyleIdx="4" presStyleCnt="12">
        <dgm:presLayoutVars>
          <dgm:bulletEnabled val="1"/>
        </dgm:presLayoutVars>
      </dgm:prSet>
      <dgm:spPr/>
    </dgm:pt>
    <dgm:pt modelId="{C3633374-E7BC-45FF-8CA9-4E673534ACA7}" type="pres">
      <dgm:prSet presAssocID="{CEAD746F-5904-4D6B-A351-47D71F3FE3B6}" presName="childTextArrow" presStyleLbl="fgAccFollowNode1" presStyleIdx="5" presStyleCnt="12">
        <dgm:presLayoutVars>
          <dgm:bulletEnabled val="1"/>
        </dgm:presLayoutVars>
      </dgm:prSet>
      <dgm:spPr/>
    </dgm:pt>
    <dgm:pt modelId="{7F212ED5-BED9-46CB-8585-FD81A9E14E70}" type="pres">
      <dgm:prSet presAssocID="{2417DA9D-C4CE-43C5-86BB-EF6853D37A02}" presName="sp" presStyleCnt="0"/>
      <dgm:spPr/>
    </dgm:pt>
    <dgm:pt modelId="{D282D346-4B95-4CE6-99F3-6FA3D5FF02FA}" type="pres">
      <dgm:prSet presAssocID="{A27932D9-5E86-42C2-AB68-B2FBEFB28444}" presName="arrowAndChildren" presStyleCnt="0"/>
      <dgm:spPr/>
    </dgm:pt>
    <dgm:pt modelId="{126F31A8-79D2-40E5-9861-74A924652E75}" type="pres">
      <dgm:prSet presAssocID="{A27932D9-5E86-42C2-AB68-B2FBEFB28444}" presName="parentTextArrow" presStyleLbl="node1" presStyleIdx="1" presStyleCnt="5"/>
      <dgm:spPr/>
    </dgm:pt>
    <dgm:pt modelId="{7C0C6265-2665-4457-AD48-54022F4C0DC3}" type="pres">
      <dgm:prSet presAssocID="{A27932D9-5E86-42C2-AB68-B2FBEFB28444}" presName="arrow" presStyleLbl="node1" presStyleIdx="2" presStyleCnt="5"/>
      <dgm:spPr/>
    </dgm:pt>
    <dgm:pt modelId="{B5E49276-C66B-43C4-890B-8834A0A31274}" type="pres">
      <dgm:prSet presAssocID="{A27932D9-5E86-42C2-AB68-B2FBEFB28444}" presName="descendantArrow" presStyleCnt="0"/>
      <dgm:spPr/>
    </dgm:pt>
    <dgm:pt modelId="{1A2C1FEB-B2F7-4498-AB3E-0E82D2B658B6}" type="pres">
      <dgm:prSet presAssocID="{F4B94A71-06D8-4009-B524-13A232C77FAA}" presName="childTextArrow" presStyleLbl="fgAccFollowNode1" presStyleIdx="6" presStyleCnt="12">
        <dgm:presLayoutVars>
          <dgm:bulletEnabled val="1"/>
        </dgm:presLayoutVars>
      </dgm:prSet>
      <dgm:spPr/>
    </dgm:pt>
    <dgm:pt modelId="{120F1184-30E7-4F8D-99F8-7785D7C16B01}" type="pres">
      <dgm:prSet presAssocID="{BCCC44E4-2129-4906-8AC3-63F9BA290A41}" presName="childTextArrow" presStyleLbl="fgAccFollowNode1" presStyleIdx="7" presStyleCnt="12">
        <dgm:presLayoutVars>
          <dgm:bulletEnabled val="1"/>
        </dgm:presLayoutVars>
      </dgm:prSet>
      <dgm:spPr/>
    </dgm:pt>
    <dgm:pt modelId="{36444CC0-7532-4A93-B252-679E563769ED}" type="pres">
      <dgm:prSet presAssocID="{F134BC7F-F23E-47FF-A4BA-8B7A9932F875}" presName="childTextArrow" presStyleLbl="fgAccFollowNode1" presStyleIdx="8" presStyleCnt="12">
        <dgm:presLayoutVars>
          <dgm:bulletEnabled val="1"/>
        </dgm:presLayoutVars>
      </dgm:prSet>
      <dgm:spPr/>
    </dgm:pt>
    <dgm:pt modelId="{BBF08597-D25F-4C01-8686-C052E17F2EC1}" type="pres">
      <dgm:prSet presAssocID="{80B0EBD0-D241-4089-9EC3-EACD51616604}" presName="sp" presStyleCnt="0"/>
      <dgm:spPr/>
    </dgm:pt>
    <dgm:pt modelId="{0BAC486D-EE3E-4BDC-9D06-D820686AFEAE}" type="pres">
      <dgm:prSet presAssocID="{C5B5E289-C7B3-4CB6-A91A-FA0F7210BE54}" presName="arrowAndChildren" presStyleCnt="0"/>
      <dgm:spPr/>
    </dgm:pt>
    <dgm:pt modelId="{B86180CC-C2FA-43E8-A8B0-C00B5E62A1A4}" type="pres">
      <dgm:prSet presAssocID="{C5B5E289-C7B3-4CB6-A91A-FA0F7210BE54}" presName="parentTextArrow" presStyleLbl="node1" presStyleIdx="2" presStyleCnt="5"/>
      <dgm:spPr/>
    </dgm:pt>
    <dgm:pt modelId="{F125DB09-012E-4B42-9A95-3BB87FDB31CC}" type="pres">
      <dgm:prSet presAssocID="{C5B5E289-C7B3-4CB6-A91A-FA0F7210BE54}" presName="arrow" presStyleLbl="node1" presStyleIdx="3" presStyleCnt="5"/>
      <dgm:spPr/>
    </dgm:pt>
    <dgm:pt modelId="{4A3E487B-2BF4-42D5-9979-DA2AE4CA44DA}" type="pres">
      <dgm:prSet presAssocID="{C5B5E289-C7B3-4CB6-A91A-FA0F7210BE54}" presName="descendantArrow" presStyleCnt="0"/>
      <dgm:spPr/>
    </dgm:pt>
    <dgm:pt modelId="{B763757E-ABFA-42EB-9798-1D9FC1C8CF52}" type="pres">
      <dgm:prSet presAssocID="{DD35ACCB-4B2B-49CB-99BF-42519AB37CB0}" presName="childTextArrow" presStyleLbl="fgAccFollowNode1" presStyleIdx="9" presStyleCnt="12">
        <dgm:presLayoutVars>
          <dgm:bulletEnabled val="1"/>
        </dgm:presLayoutVars>
      </dgm:prSet>
      <dgm:spPr/>
    </dgm:pt>
    <dgm:pt modelId="{F5613BED-20F4-4BF6-AC64-AC87FA86BB7D}" type="pres">
      <dgm:prSet presAssocID="{1FDF53C6-29BC-4C3C-AC7C-308C0315780C}" presName="childTextArrow" presStyleLbl="fgAccFollowNode1" presStyleIdx="10" presStyleCnt="12">
        <dgm:presLayoutVars>
          <dgm:bulletEnabled val="1"/>
        </dgm:presLayoutVars>
      </dgm:prSet>
      <dgm:spPr/>
    </dgm:pt>
    <dgm:pt modelId="{C13FE924-1CE5-4F0F-8AF1-B3DA11B7D9CE}" type="pres">
      <dgm:prSet presAssocID="{71BCDE35-4C12-4D1C-85E2-03B22C727310}" presName="sp" presStyleCnt="0"/>
      <dgm:spPr/>
    </dgm:pt>
    <dgm:pt modelId="{B32B5B02-3B37-4B71-8063-AC6FE7E1669F}" type="pres">
      <dgm:prSet presAssocID="{3D211D77-B8D3-4404-844E-80F90FD6EC07}" presName="arrowAndChildren" presStyleCnt="0"/>
      <dgm:spPr/>
    </dgm:pt>
    <dgm:pt modelId="{6B2D2D3A-B5AE-4FFC-8D27-FD0C2A9D8337}" type="pres">
      <dgm:prSet presAssocID="{3D211D77-B8D3-4404-844E-80F90FD6EC07}" presName="parentTextArrow" presStyleLbl="node1" presStyleIdx="3" presStyleCnt="5"/>
      <dgm:spPr/>
    </dgm:pt>
    <dgm:pt modelId="{C8C596CF-354F-479A-8F9B-539C71848267}" type="pres">
      <dgm:prSet presAssocID="{3D211D77-B8D3-4404-844E-80F90FD6EC07}" presName="arrow" presStyleLbl="node1" presStyleIdx="4" presStyleCnt="5"/>
      <dgm:spPr/>
    </dgm:pt>
    <dgm:pt modelId="{2FC313AB-B077-4FE7-B7DA-66E7CFEC02DC}" type="pres">
      <dgm:prSet presAssocID="{3D211D77-B8D3-4404-844E-80F90FD6EC07}" presName="descendantArrow" presStyleCnt="0"/>
      <dgm:spPr/>
    </dgm:pt>
    <dgm:pt modelId="{259487C1-E8C8-4ABA-9E74-5600DE3FEC31}" type="pres">
      <dgm:prSet presAssocID="{446F3501-E2C0-4BB2-BC59-778FC36394F0}" presName="childTextArrow" presStyleLbl="fgAccFollowNode1" presStyleIdx="11" presStyleCnt="12">
        <dgm:presLayoutVars>
          <dgm:bulletEnabled val="1"/>
        </dgm:presLayoutVars>
      </dgm:prSet>
      <dgm:spPr/>
    </dgm:pt>
  </dgm:ptLst>
  <dgm:cxnLst>
    <dgm:cxn modelId="{0C004F04-0E7F-4CEC-877D-A3415EC8EBAA}" srcId="{DA1FBD82-D51F-4967-AEB9-BFE3925BE119}" destId="{CAF74A64-D7F0-4163-B031-E2606D3BFEEE}" srcOrd="4" destOrd="0" parTransId="{7EFB94B3-BDDE-47D9-B12E-99F9B9A482DB}" sibTransId="{59020C83-BF9F-4E28-AA8F-40DE37526897}"/>
    <dgm:cxn modelId="{9302CB05-B73E-40E4-BCAF-4297554FC67A}" type="presOf" srcId="{CAF74A64-D7F0-4163-B031-E2606D3BFEEE}" destId="{86C7924B-EF8D-4059-A783-BC39B297D715}" srcOrd="1" destOrd="0" presId="urn:microsoft.com/office/officeart/2005/8/layout/process4"/>
    <dgm:cxn modelId="{90EF5A06-F7AA-4FF0-8F9F-0C8E593E3DE6}" type="presOf" srcId="{DD35ACCB-4B2B-49CB-99BF-42519AB37CB0}" destId="{B763757E-ABFA-42EB-9798-1D9FC1C8CF52}" srcOrd="0" destOrd="0" presId="urn:microsoft.com/office/officeart/2005/8/layout/process4"/>
    <dgm:cxn modelId="{601EF10B-7B46-4054-8D2A-6C0E5021F4C9}" srcId="{AFF0C6BA-3C9A-4987-9300-1F66252A1B9C}" destId="{CEAD746F-5904-4D6B-A351-47D71F3FE3B6}" srcOrd="2" destOrd="0" parTransId="{B3D9473E-CB09-4F8E-AA9E-EE656D2B5344}" sibTransId="{22946DBA-7155-43C6-BCCE-66558A21C3F1}"/>
    <dgm:cxn modelId="{7069CD12-32B2-4B19-B8A8-74DB406229CF}" type="presOf" srcId="{F4B94A71-06D8-4009-B524-13A232C77FAA}" destId="{1A2C1FEB-B2F7-4498-AB3E-0E82D2B658B6}" srcOrd="0" destOrd="0" presId="urn:microsoft.com/office/officeart/2005/8/layout/process4"/>
    <dgm:cxn modelId="{84845523-B1C2-49E8-A3B3-D8DCF5415E18}" type="presOf" srcId="{1FDF53C6-29BC-4C3C-AC7C-308C0315780C}" destId="{F5613BED-20F4-4BF6-AC64-AC87FA86BB7D}" srcOrd="0" destOrd="0" presId="urn:microsoft.com/office/officeart/2005/8/layout/process4"/>
    <dgm:cxn modelId="{8F98262D-2CF5-4F05-8CE8-C1BD6ED7BBC7}" type="presOf" srcId="{6B17000E-0C71-4DFE-9DA4-1BF947DA5C4C}" destId="{C6C9E6AF-296C-44B8-866D-AB280DDAC193}" srcOrd="0" destOrd="0" presId="urn:microsoft.com/office/officeart/2005/8/layout/process4"/>
    <dgm:cxn modelId="{5ED7662E-366B-464C-AB2F-49C738B50F52}" type="presOf" srcId="{F143FCCE-4BE9-459F-99DB-01FA0BF4614D}" destId="{0D334693-4F87-4C64-B716-F67B4C9A9CB5}" srcOrd="0" destOrd="0" presId="urn:microsoft.com/office/officeart/2005/8/layout/process4"/>
    <dgm:cxn modelId="{8F85A434-2FCC-4367-8A59-F69321E0397F}" srcId="{DA1FBD82-D51F-4967-AEB9-BFE3925BE119}" destId="{3D211D77-B8D3-4404-844E-80F90FD6EC07}" srcOrd="0" destOrd="0" parTransId="{1D01126A-78E4-487F-8F92-06C1EBEF3371}" sibTransId="{71BCDE35-4C12-4D1C-85E2-03B22C727310}"/>
    <dgm:cxn modelId="{FE00EA37-56DA-4C4F-A639-EE8CBD4F986D}" type="presOf" srcId="{2664123D-F85E-441E-8DBD-9C6291F935B1}" destId="{0CF47D8B-9DE0-4BEE-A17D-72336807D66E}" srcOrd="0" destOrd="0" presId="urn:microsoft.com/office/officeart/2005/8/layout/process4"/>
    <dgm:cxn modelId="{D1C3E53F-5D56-4AA4-BED8-C5E19BD626A4}" type="presOf" srcId="{A27932D9-5E86-42C2-AB68-B2FBEFB28444}" destId="{126F31A8-79D2-40E5-9861-74A924652E75}" srcOrd="0" destOrd="0" presId="urn:microsoft.com/office/officeart/2005/8/layout/process4"/>
    <dgm:cxn modelId="{298DD442-A48A-4A10-8F8A-29660DDB2532}" srcId="{DA1FBD82-D51F-4967-AEB9-BFE3925BE119}" destId="{A27932D9-5E86-42C2-AB68-B2FBEFB28444}" srcOrd="2" destOrd="0" parTransId="{86A5B9D9-14AA-4479-B92E-141AF70CE22E}" sibTransId="{2417DA9D-C4CE-43C5-86BB-EF6853D37A02}"/>
    <dgm:cxn modelId="{FE4C7D43-AE75-407E-9156-670E45B0A890}" type="presOf" srcId="{95E6A870-8990-4EE6-A5E2-4235A9431AC5}" destId="{7CF5CC63-A37A-4A5E-821E-4C7358FE5EE3}" srcOrd="0" destOrd="0" presId="urn:microsoft.com/office/officeart/2005/8/layout/process4"/>
    <dgm:cxn modelId="{D5F79763-0801-4E76-A9D9-076DB8515C5F}" srcId="{DA1FBD82-D51F-4967-AEB9-BFE3925BE119}" destId="{AFF0C6BA-3C9A-4987-9300-1F66252A1B9C}" srcOrd="3" destOrd="0" parTransId="{6E57946B-8AA9-49DB-A481-FA25D7937D95}" sibTransId="{66CD59B0-AD5E-489F-9660-2DE26A5DCCB7}"/>
    <dgm:cxn modelId="{070BBD67-C304-4BE7-AAED-EE88187F39E8}" type="presOf" srcId="{AFF0C6BA-3C9A-4987-9300-1F66252A1B9C}" destId="{2D71C952-553D-4642-807E-C4BF83F8E1E6}" srcOrd="0" destOrd="0" presId="urn:microsoft.com/office/officeart/2005/8/layout/process4"/>
    <dgm:cxn modelId="{A16D8F51-8950-40E2-B9C2-87AE88523902}" type="presOf" srcId="{20AD4503-7484-4A3F-8512-149867D40CF2}" destId="{29A07335-ADB8-4EB9-86A9-1C03FF3E73B2}" srcOrd="0" destOrd="0" presId="urn:microsoft.com/office/officeart/2005/8/layout/process4"/>
    <dgm:cxn modelId="{74F8CB51-8921-4EA6-ABD6-58C4CD1A29FB}" type="presOf" srcId="{F134BC7F-F23E-47FF-A4BA-8B7A9932F875}" destId="{36444CC0-7532-4A93-B252-679E563769ED}" srcOrd="0" destOrd="0" presId="urn:microsoft.com/office/officeart/2005/8/layout/process4"/>
    <dgm:cxn modelId="{FF965773-2449-40F4-BD15-C4DD21772B31}" type="presOf" srcId="{C5B5E289-C7B3-4CB6-A91A-FA0F7210BE54}" destId="{B86180CC-C2FA-43E8-A8B0-C00B5E62A1A4}" srcOrd="0" destOrd="0" presId="urn:microsoft.com/office/officeart/2005/8/layout/process4"/>
    <dgm:cxn modelId="{09246874-29F1-4EAD-BEA0-12506D8189FE}" srcId="{A27932D9-5E86-42C2-AB68-B2FBEFB28444}" destId="{F134BC7F-F23E-47FF-A4BA-8B7A9932F875}" srcOrd="2" destOrd="0" parTransId="{6998AE61-F3EC-4111-B4B9-B319774FB438}" sibTransId="{4354B554-A717-44E2-89BF-E59C21CD30F2}"/>
    <dgm:cxn modelId="{9EAB5C57-55BB-4A08-BE0B-5C865B44972C}" type="presOf" srcId="{446F3501-E2C0-4BB2-BC59-778FC36394F0}" destId="{259487C1-E8C8-4ABA-9E74-5600DE3FEC31}" srcOrd="0" destOrd="0" presId="urn:microsoft.com/office/officeart/2005/8/layout/process4"/>
    <dgm:cxn modelId="{7668DE7E-6695-4A93-8A8E-9770DCD42810}" srcId="{DA1FBD82-D51F-4967-AEB9-BFE3925BE119}" destId="{C5B5E289-C7B3-4CB6-A91A-FA0F7210BE54}" srcOrd="1" destOrd="0" parTransId="{DED6E6CB-A1C3-49BB-AF61-3FB50F191F9E}" sibTransId="{80B0EBD0-D241-4089-9EC3-EACD51616604}"/>
    <dgm:cxn modelId="{348E8F80-A5A2-40C6-BCA8-25918601D5D1}" srcId="{3D211D77-B8D3-4404-844E-80F90FD6EC07}" destId="{446F3501-E2C0-4BB2-BC59-778FC36394F0}" srcOrd="0" destOrd="0" parTransId="{AF93F19E-40BC-496D-A338-60F52E4D267C}" sibTransId="{D0CF8DC3-0D48-422D-9E38-232624CA96BA}"/>
    <dgm:cxn modelId="{319FF684-1040-4C09-ADD8-2B10A2D87744}" srcId="{C5B5E289-C7B3-4CB6-A91A-FA0F7210BE54}" destId="{DD35ACCB-4B2B-49CB-99BF-42519AB37CB0}" srcOrd="0" destOrd="0" parTransId="{7B2EC26C-A48E-4458-9A9A-9D9A8CBC44BF}" sibTransId="{8D9615E1-7653-4967-9ADD-C85E9304592B}"/>
    <dgm:cxn modelId="{31D58186-0993-4BEC-9CAC-3C635AC22E3F}" srcId="{C5B5E289-C7B3-4CB6-A91A-FA0F7210BE54}" destId="{1FDF53C6-29BC-4C3C-AC7C-308C0315780C}" srcOrd="1" destOrd="0" parTransId="{671D1E4F-090F-4892-A240-F32010FBB0CF}" sibTransId="{D7B2FAD9-3495-4521-B958-891F83AA3E49}"/>
    <dgm:cxn modelId="{9E9CB497-5C4B-4852-8EA9-A5DA3E551674}" type="presOf" srcId="{AFF0C6BA-3C9A-4987-9300-1F66252A1B9C}" destId="{548BFAF4-B614-4D44-B01C-DBF30000D866}" srcOrd="1" destOrd="0" presId="urn:microsoft.com/office/officeart/2005/8/layout/process4"/>
    <dgm:cxn modelId="{586B399E-C35E-4A9B-8EDF-8A9871AC37F9}" srcId="{CAF74A64-D7F0-4163-B031-E2606D3BFEEE}" destId="{F143FCCE-4BE9-459F-99DB-01FA0BF4614D}" srcOrd="0" destOrd="0" parTransId="{9BC9367F-CCD7-43A9-8920-E94BB1FD70F8}" sibTransId="{9AE9E08F-1406-4F8B-B57C-1883BBA40096}"/>
    <dgm:cxn modelId="{95F9749F-9BEF-4808-8788-71C1AAD85212}" srcId="{A27932D9-5E86-42C2-AB68-B2FBEFB28444}" destId="{BCCC44E4-2129-4906-8AC3-63F9BA290A41}" srcOrd="1" destOrd="0" parTransId="{243BB3C7-9289-4316-9512-925F86C1CD37}" sibTransId="{02C62A36-AFEB-4305-954A-72F371B3A85C}"/>
    <dgm:cxn modelId="{B5B901AD-E8B0-4829-9E73-A91CC14A986F}" type="presOf" srcId="{3D211D77-B8D3-4404-844E-80F90FD6EC07}" destId="{C8C596CF-354F-479A-8F9B-539C71848267}" srcOrd="1" destOrd="0" presId="urn:microsoft.com/office/officeart/2005/8/layout/process4"/>
    <dgm:cxn modelId="{39899BB6-6232-4531-92BC-01586F529C2A}" type="presOf" srcId="{BCCC44E4-2129-4906-8AC3-63F9BA290A41}" destId="{120F1184-30E7-4F8D-99F8-7785D7C16B01}" srcOrd="0" destOrd="0" presId="urn:microsoft.com/office/officeart/2005/8/layout/process4"/>
    <dgm:cxn modelId="{3014D9B9-F0FF-4249-B174-BF489DF109F4}" srcId="{A27932D9-5E86-42C2-AB68-B2FBEFB28444}" destId="{F4B94A71-06D8-4009-B524-13A232C77FAA}" srcOrd="0" destOrd="0" parTransId="{D77D8D14-08F0-4EF1-B0C7-37789AF472E9}" sibTransId="{9E44E923-4D13-4FF5-916A-8FBFDEB1AA8A}"/>
    <dgm:cxn modelId="{800608C5-1442-4966-820B-3403406EDA53}" srcId="{AFF0C6BA-3C9A-4987-9300-1F66252A1B9C}" destId="{2664123D-F85E-441E-8DBD-9C6291F935B1}" srcOrd="0" destOrd="0" parTransId="{F66A5B59-F611-4B54-B3EF-9201350F60FE}" sibTransId="{2C123D1B-E2C6-43BC-9B45-206134D97375}"/>
    <dgm:cxn modelId="{C83B8BCC-5021-43BE-9F40-1422C0597B0F}" type="presOf" srcId="{A27932D9-5E86-42C2-AB68-B2FBEFB28444}" destId="{7C0C6265-2665-4457-AD48-54022F4C0DC3}" srcOrd="1" destOrd="0" presId="urn:microsoft.com/office/officeart/2005/8/layout/process4"/>
    <dgm:cxn modelId="{F75332D1-455E-48DE-B313-AE75E72125AC}" srcId="{CAF74A64-D7F0-4163-B031-E2606D3BFEEE}" destId="{20AD4503-7484-4A3F-8512-149867D40CF2}" srcOrd="1" destOrd="0" parTransId="{EFD002B2-35FD-439C-8334-EF79518C36D5}" sibTransId="{E5C12997-AB57-4C9A-9D91-4BE656757532}"/>
    <dgm:cxn modelId="{834E96D3-440A-4BF5-9173-F13E389629B8}" type="presOf" srcId="{3D211D77-B8D3-4404-844E-80F90FD6EC07}" destId="{6B2D2D3A-B5AE-4FFC-8D27-FD0C2A9D8337}" srcOrd="0" destOrd="0" presId="urn:microsoft.com/office/officeart/2005/8/layout/process4"/>
    <dgm:cxn modelId="{5BF0C7D7-D534-4156-8301-6DBF1870CF05}" srcId="{CAF74A64-D7F0-4163-B031-E2606D3BFEEE}" destId="{95E6A870-8990-4EE6-A5E2-4235A9431AC5}" srcOrd="2" destOrd="0" parTransId="{636893A0-8E59-4B8C-A7FF-13F1D4CDCC90}" sibTransId="{BBD8418A-EBC5-41B2-AADA-6207026DF616}"/>
    <dgm:cxn modelId="{2F640DDB-846B-4AAC-AA58-DA259092785B}" type="presOf" srcId="{DA1FBD82-D51F-4967-AEB9-BFE3925BE119}" destId="{E96FA750-4601-4EF5-86F0-CD35D180A7C9}" srcOrd="0" destOrd="0" presId="urn:microsoft.com/office/officeart/2005/8/layout/process4"/>
    <dgm:cxn modelId="{E75D1AE9-4A11-4592-B0FE-4AEC0F637316}" srcId="{AFF0C6BA-3C9A-4987-9300-1F66252A1B9C}" destId="{6B17000E-0C71-4DFE-9DA4-1BF947DA5C4C}" srcOrd="1" destOrd="0" parTransId="{3D971119-1ACB-4604-93BA-CA77447FF1C6}" sibTransId="{2151FC51-7BD1-43C2-ACD4-C716AECFD3A0}"/>
    <dgm:cxn modelId="{6ECB42F0-C817-47D9-A672-C90CD172C2E2}" type="presOf" srcId="{CAF74A64-D7F0-4163-B031-E2606D3BFEEE}" destId="{5584F0E7-02B5-439F-8A3F-2CB091816CE7}" srcOrd="0" destOrd="0" presId="urn:microsoft.com/office/officeart/2005/8/layout/process4"/>
    <dgm:cxn modelId="{9D5F0FF8-DDEA-406A-BD6A-0AD2A99622B8}" type="presOf" srcId="{C5B5E289-C7B3-4CB6-A91A-FA0F7210BE54}" destId="{F125DB09-012E-4B42-9A95-3BB87FDB31CC}" srcOrd="1" destOrd="0" presId="urn:microsoft.com/office/officeart/2005/8/layout/process4"/>
    <dgm:cxn modelId="{C2FC9CFF-778E-47C0-8E16-A7CEF92605B3}" type="presOf" srcId="{CEAD746F-5904-4D6B-A351-47D71F3FE3B6}" destId="{C3633374-E7BC-45FF-8CA9-4E673534ACA7}" srcOrd="0" destOrd="0" presId="urn:microsoft.com/office/officeart/2005/8/layout/process4"/>
    <dgm:cxn modelId="{8128394A-3BA8-4CFA-A37B-41A4F10C1ADE}" type="presParOf" srcId="{E96FA750-4601-4EF5-86F0-CD35D180A7C9}" destId="{56D694D4-330C-4925-B2B6-1C98542E0D9B}" srcOrd="0" destOrd="0" presId="urn:microsoft.com/office/officeart/2005/8/layout/process4"/>
    <dgm:cxn modelId="{CDBFDC22-7881-49AF-8D43-D4FE579E0914}" type="presParOf" srcId="{56D694D4-330C-4925-B2B6-1C98542E0D9B}" destId="{5584F0E7-02B5-439F-8A3F-2CB091816CE7}" srcOrd="0" destOrd="0" presId="urn:microsoft.com/office/officeart/2005/8/layout/process4"/>
    <dgm:cxn modelId="{A81E2365-F58F-4F00-9321-D7BF0B59C194}" type="presParOf" srcId="{56D694D4-330C-4925-B2B6-1C98542E0D9B}" destId="{86C7924B-EF8D-4059-A783-BC39B297D715}" srcOrd="1" destOrd="0" presId="urn:microsoft.com/office/officeart/2005/8/layout/process4"/>
    <dgm:cxn modelId="{55F52305-DC0B-4ACE-BE2A-B7FB2FB64C4F}" type="presParOf" srcId="{56D694D4-330C-4925-B2B6-1C98542E0D9B}" destId="{FA76874F-280B-4C21-A9AB-C943CFAA6369}" srcOrd="2" destOrd="0" presId="urn:microsoft.com/office/officeart/2005/8/layout/process4"/>
    <dgm:cxn modelId="{6DF02FF0-0F69-411C-B43D-A3E31ECA0237}" type="presParOf" srcId="{FA76874F-280B-4C21-A9AB-C943CFAA6369}" destId="{0D334693-4F87-4C64-B716-F67B4C9A9CB5}" srcOrd="0" destOrd="0" presId="urn:microsoft.com/office/officeart/2005/8/layout/process4"/>
    <dgm:cxn modelId="{FF36AD90-2117-489A-9D58-25BC61E42574}" type="presParOf" srcId="{FA76874F-280B-4C21-A9AB-C943CFAA6369}" destId="{29A07335-ADB8-4EB9-86A9-1C03FF3E73B2}" srcOrd="1" destOrd="0" presId="urn:microsoft.com/office/officeart/2005/8/layout/process4"/>
    <dgm:cxn modelId="{AF1C9EE7-8828-493C-955B-D7DAE3BE8C8C}" type="presParOf" srcId="{FA76874F-280B-4C21-A9AB-C943CFAA6369}" destId="{7CF5CC63-A37A-4A5E-821E-4C7358FE5EE3}" srcOrd="2" destOrd="0" presId="urn:microsoft.com/office/officeart/2005/8/layout/process4"/>
    <dgm:cxn modelId="{A977B38D-0176-47D0-8114-7943D284DB2B}" type="presParOf" srcId="{E96FA750-4601-4EF5-86F0-CD35D180A7C9}" destId="{D6D12C2E-7CFA-41D9-B468-050CA76CACA9}" srcOrd="1" destOrd="0" presId="urn:microsoft.com/office/officeart/2005/8/layout/process4"/>
    <dgm:cxn modelId="{E538DB98-C644-406B-8935-5F31253FF1AE}" type="presParOf" srcId="{E96FA750-4601-4EF5-86F0-CD35D180A7C9}" destId="{69256AAD-DDE7-44B1-81B8-E95C59244B84}" srcOrd="2" destOrd="0" presId="urn:microsoft.com/office/officeart/2005/8/layout/process4"/>
    <dgm:cxn modelId="{BD70BD66-D83E-4457-9136-5922281372D6}" type="presParOf" srcId="{69256AAD-DDE7-44B1-81B8-E95C59244B84}" destId="{2D71C952-553D-4642-807E-C4BF83F8E1E6}" srcOrd="0" destOrd="0" presId="urn:microsoft.com/office/officeart/2005/8/layout/process4"/>
    <dgm:cxn modelId="{9D8A7E7D-DADE-4E35-8059-DAAC7548681A}" type="presParOf" srcId="{69256AAD-DDE7-44B1-81B8-E95C59244B84}" destId="{548BFAF4-B614-4D44-B01C-DBF30000D866}" srcOrd="1" destOrd="0" presId="urn:microsoft.com/office/officeart/2005/8/layout/process4"/>
    <dgm:cxn modelId="{2700EB62-928C-49C4-A310-2CD5C13AC391}" type="presParOf" srcId="{69256AAD-DDE7-44B1-81B8-E95C59244B84}" destId="{6D16BE3A-DF7A-4ED8-9619-E8AACDC96478}" srcOrd="2" destOrd="0" presId="urn:microsoft.com/office/officeart/2005/8/layout/process4"/>
    <dgm:cxn modelId="{ED3ADA0A-756D-43B3-9588-94C804777587}" type="presParOf" srcId="{6D16BE3A-DF7A-4ED8-9619-E8AACDC96478}" destId="{0CF47D8B-9DE0-4BEE-A17D-72336807D66E}" srcOrd="0" destOrd="0" presId="urn:microsoft.com/office/officeart/2005/8/layout/process4"/>
    <dgm:cxn modelId="{1BFD4B75-F97F-4F71-B519-A95B58808D96}" type="presParOf" srcId="{6D16BE3A-DF7A-4ED8-9619-E8AACDC96478}" destId="{C6C9E6AF-296C-44B8-866D-AB280DDAC193}" srcOrd="1" destOrd="0" presId="urn:microsoft.com/office/officeart/2005/8/layout/process4"/>
    <dgm:cxn modelId="{2ED7AE62-2B96-4519-BD70-C88612A72E08}" type="presParOf" srcId="{6D16BE3A-DF7A-4ED8-9619-E8AACDC96478}" destId="{C3633374-E7BC-45FF-8CA9-4E673534ACA7}" srcOrd="2" destOrd="0" presId="urn:microsoft.com/office/officeart/2005/8/layout/process4"/>
    <dgm:cxn modelId="{82D1D900-B6B9-436E-99AB-3029F208D58F}" type="presParOf" srcId="{E96FA750-4601-4EF5-86F0-CD35D180A7C9}" destId="{7F212ED5-BED9-46CB-8585-FD81A9E14E70}" srcOrd="3" destOrd="0" presId="urn:microsoft.com/office/officeart/2005/8/layout/process4"/>
    <dgm:cxn modelId="{9C136DCC-DCAE-4438-92B4-F53F8D749E32}" type="presParOf" srcId="{E96FA750-4601-4EF5-86F0-CD35D180A7C9}" destId="{D282D346-4B95-4CE6-99F3-6FA3D5FF02FA}" srcOrd="4" destOrd="0" presId="urn:microsoft.com/office/officeart/2005/8/layout/process4"/>
    <dgm:cxn modelId="{536009E0-95FA-44EB-8522-A14020F1B5E7}" type="presParOf" srcId="{D282D346-4B95-4CE6-99F3-6FA3D5FF02FA}" destId="{126F31A8-79D2-40E5-9861-74A924652E75}" srcOrd="0" destOrd="0" presId="urn:microsoft.com/office/officeart/2005/8/layout/process4"/>
    <dgm:cxn modelId="{C69BAEED-4373-4100-B03D-2395426D8A59}" type="presParOf" srcId="{D282D346-4B95-4CE6-99F3-6FA3D5FF02FA}" destId="{7C0C6265-2665-4457-AD48-54022F4C0DC3}" srcOrd="1" destOrd="0" presId="urn:microsoft.com/office/officeart/2005/8/layout/process4"/>
    <dgm:cxn modelId="{6B5E637F-5A96-46C2-8876-43B85BA4E1CF}" type="presParOf" srcId="{D282D346-4B95-4CE6-99F3-6FA3D5FF02FA}" destId="{B5E49276-C66B-43C4-890B-8834A0A31274}" srcOrd="2" destOrd="0" presId="urn:microsoft.com/office/officeart/2005/8/layout/process4"/>
    <dgm:cxn modelId="{97CDFB99-F899-4373-A334-5B4BA31C8252}" type="presParOf" srcId="{B5E49276-C66B-43C4-890B-8834A0A31274}" destId="{1A2C1FEB-B2F7-4498-AB3E-0E82D2B658B6}" srcOrd="0" destOrd="0" presId="urn:microsoft.com/office/officeart/2005/8/layout/process4"/>
    <dgm:cxn modelId="{1ED97EDE-904F-4FF3-8BD0-C2070AD6E1D0}" type="presParOf" srcId="{B5E49276-C66B-43C4-890B-8834A0A31274}" destId="{120F1184-30E7-4F8D-99F8-7785D7C16B01}" srcOrd="1" destOrd="0" presId="urn:microsoft.com/office/officeart/2005/8/layout/process4"/>
    <dgm:cxn modelId="{147B4AAF-0055-4514-A7DD-A2DA6CF41D0D}" type="presParOf" srcId="{B5E49276-C66B-43C4-890B-8834A0A31274}" destId="{36444CC0-7532-4A93-B252-679E563769ED}" srcOrd="2" destOrd="0" presId="urn:microsoft.com/office/officeart/2005/8/layout/process4"/>
    <dgm:cxn modelId="{52A48252-2FA8-46A3-95AA-3478FC8EA99D}" type="presParOf" srcId="{E96FA750-4601-4EF5-86F0-CD35D180A7C9}" destId="{BBF08597-D25F-4C01-8686-C052E17F2EC1}" srcOrd="5" destOrd="0" presId="urn:microsoft.com/office/officeart/2005/8/layout/process4"/>
    <dgm:cxn modelId="{14FD8E8D-D7D7-454B-AE19-88F1EF9955A0}" type="presParOf" srcId="{E96FA750-4601-4EF5-86F0-CD35D180A7C9}" destId="{0BAC486D-EE3E-4BDC-9D06-D820686AFEAE}" srcOrd="6" destOrd="0" presId="urn:microsoft.com/office/officeart/2005/8/layout/process4"/>
    <dgm:cxn modelId="{FF1805F7-D28B-40FD-9089-6E594F860429}" type="presParOf" srcId="{0BAC486D-EE3E-4BDC-9D06-D820686AFEAE}" destId="{B86180CC-C2FA-43E8-A8B0-C00B5E62A1A4}" srcOrd="0" destOrd="0" presId="urn:microsoft.com/office/officeart/2005/8/layout/process4"/>
    <dgm:cxn modelId="{647D5F50-5B28-4375-A4E6-D6F322C68903}" type="presParOf" srcId="{0BAC486D-EE3E-4BDC-9D06-D820686AFEAE}" destId="{F125DB09-012E-4B42-9A95-3BB87FDB31CC}" srcOrd="1" destOrd="0" presId="urn:microsoft.com/office/officeart/2005/8/layout/process4"/>
    <dgm:cxn modelId="{BD344F7E-F60A-4A53-81FD-56A772842F99}" type="presParOf" srcId="{0BAC486D-EE3E-4BDC-9D06-D820686AFEAE}" destId="{4A3E487B-2BF4-42D5-9979-DA2AE4CA44DA}" srcOrd="2" destOrd="0" presId="urn:microsoft.com/office/officeart/2005/8/layout/process4"/>
    <dgm:cxn modelId="{5BB54C9D-A346-4422-915C-8BEE1E97E5EC}" type="presParOf" srcId="{4A3E487B-2BF4-42D5-9979-DA2AE4CA44DA}" destId="{B763757E-ABFA-42EB-9798-1D9FC1C8CF52}" srcOrd="0" destOrd="0" presId="urn:microsoft.com/office/officeart/2005/8/layout/process4"/>
    <dgm:cxn modelId="{20DB4D1A-10C9-43A4-81C4-1190716BF30E}" type="presParOf" srcId="{4A3E487B-2BF4-42D5-9979-DA2AE4CA44DA}" destId="{F5613BED-20F4-4BF6-AC64-AC87FA86BB7D}" srcOrd="1" destOrd="0" presId="urn:microsoft.com/office/officeart/2005/8/layout/process4"/>
    <dgm:cxn modelId="{49894F06-7F74-4AD8-B273-6486A5DEA257}" type="presParOf" srcId="{E96FA750-4601-4EF5-86F0-CD35D180A7C9}" destId="{C13FE924-1CE5-4F0F-8AF1-B3DA11B7D9CE}" srcOrd="7" destOrd="0" presId="urn:microsoft.com/office/officeart/2005/8/layout/process4"/>
    <dgm:cxn modelId="{A1F7D522-4F39-497F-9744-D65E7BFA0343}" type="presParOf" srcId="{E96FA750-4601-4EF5-86F0-CD35D180A7C9}" destId="{B32B5B02-3B37-4B71-8063-AC6FE7E1669F}" srcOrd="8" destOrd="0" presId="urn:microsoft.com/office/officeart/2005/8/layout/process4"/>
    <dgm:cxn modelId="{FE7E071F-7D78-4421-A3C8-0E352E35C6A7}" type="presParOf" srcId="{B32B5B02-3B37-4B71-8063-AC6FE7E1669F}" destId="{6B2D2D3A-B5AE-4FFC-8D27-FD0C2A9D8337}" srcOrd="0" destOrd="0" presId="urn:microsoft.com/office/officeart/2005/8/layout/process4"/>
    <dgm:cxn modelId="{3265A57F-DE04-4C66-AFC4-3EB7FDCED656}" type="presParOf" srcId="{B32B5B02-3B37-4B71-8063-AC6FE7E1669F}" destId="{C8C596CF-354F-479A-8F9B-539C71848267}" srcOrd="1" destOrd="0" presId="urn:microsoft.com/office/officeart/2005/8/layout/process4"/>
    <dgm:cxn modelId="{E4EB7360-C04C-4FC1-8245-DA1AC9E3B12B}" type="presParOf" srcId="{B32B5B02-3B37-4B71-8063-AC6FE7E1669F}" destId="{2FC313AB-B077-4FE7-B7DA-66E7CFEC02DC}" srcOrd="2" destOrd="0" presId="urn:microsoft.com/office/officeart/2005/8/layout/process4"/>
    <dgm:cxn modelId="{80113133-72BB-4A90-A477-C449CA2F6A50}" type="presParOf" srcId="{2FC313AB-B077-4FE7-B7DA-66E7CFEC02DC}" destId="{259487C1-E8C8-4ABA-9E74-5600DE3FEC3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7924B-EF8D-4059-A783-BC39B297D715}">
      <dsp:nvSpPr>
        <dsp:cNvPr id="0" name=""/>
        <dsp:cNvSpPr/>
      </dsp:nvSpPr>
      <dsp:spPr>
        <a:xfrm>
          <a:off x="0" y="3828671"/>
          <a:ext cx="11202219" cy="628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Insights &amp; Reporting</a:t>
          </a:r>
        </a:p>
      </dsp:txBody>
      <dsp:txXfrm>
        <a:off x="0" y="3828671"/>
        <a:ext cx="11202219" cy="339187"/>
      </dsp:txXfrm>
    </dsp:sp>
    <dsp:sp modelId="{0D334693-4F87-4C64-B716-F67B4C9A9CB5}">
      <dsp:nvSpPr>
        <dsp:cNvPr id="0" name=""/>
        <dsp:cNvSpPr/>
      </dsp:nvSpPr>
      <dsp:spPr>
        <a:xfrm>
          <a:off x="5469" y="4155296"/>
          <a:ext cx="3730426" cy="2889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top revenue drivers</a:t>
          </a:r>
        </a:p>
      </dsp:txBody>
      <dsp:txXfrm>
        <a:off x="5469" y="4155296"/>
        <a:ext cx="3730426" cy="288937"/>
      </dsp:txXfrm>
    </dsp:sp>
    <dsp:sp modelId="{29A07335-ADB8-4EB9-86A9-1C03FF3E73B2}">
      <dsp:nvSpPr>
        <dsp:cNvPr id="0" name=""/>
        <dsp:cNvSpPr/>
      </dsp:nvSpPr>
      <dsp:spPr>
        <a:xfrm>
          <a:off x="3735896" y="4155296"/>
          <a:ext cx="3730426" cy="2889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Evaluate product performance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35896" y="4155296"/>
        <a:ext cx="3730426" cy="288937"/>
      </dsp:txXfrm>
    </dsp:sp>
    <dsp:sp modelId="{7CF5CC63-A37A-4A5E-821E-4C7358FE5EE3}">
      <dsp:nvSpPr>
        <dsp:cNvPr id="0" name=""/>
        <dsp:cNvSpPr/>
      </dsp:nvSpPr>
      <dsp:spPr>
        <a:xfrm>
          <a:off x="7466323" y="4155296"/>
          <a:ext cx="3730426" cy="2889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Support strategic decisions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66323" y="4155296"/>
        <a:ext cx="3730426" cy="288937"/>
      </dsp:txXfrm>
    </dsp:sp>
    <dsp:sp modelId="{548BFAF4-B614-4D44-B01C-DBF30000D866}">
      <dsp:nvSpPr>
        <dsp:cNvPr id="0" name=""/>
        <dsp:cNvSpPr/>
      </dsp:nvSpPr>
      <dsp:spPr>
        <a:xfrm rot="10800000">
          <a:off x="0" y="2872036"/>
          <a:ext cx="11202219" cy="9660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 Design</a:t>
          </a:r>
        </a:p>
      </dsp:txBody>
      <dsp:txXfrm rot="-10800000">
        <a:off x="0" y="2872036"/>
        <a:ext cx="11202219" cy="339085"/>
      </dsp:txXfrm>
    </dsp:sp>
    <dsp:sp modelId="{0CF47D8B-9DE0-4BEE-A17D-72336807D66E}">
      <dsp:nvSpPr>
        <dsp:cNvPr id="0" name=""/>
        <dsp:cNvSpPr/>
      </dsp:nvSpPr>
      <dsp:spPr>
        <a:xfrm>
          <a:off x="5469" y="3211122"/>
          <a:ext cx="3730426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Category &amp; Item revenue</a:t>
          </a:r>
        </a:p>
      </dsp:txBody>
      <dsp:txXfrm>
        <a:off x="5469" y="3211122"/>
        <a:ext cx="3730426" cy="288850"/>
      </dsp:txXfrm>
    </dsp:sp>
    <dsp:sp modelId="{C6C9E6AF-296C-44B8-866D-AB280DDAC193}">
      <dsp:nvSpPr>
        <dsp:cNvPr id="0" name=""/>
        <dsp:cNvSpPr/>
      </dsp:nvSpPr>
      <dsp:spPr>
        <a:xfrm>
          <a:off x="3735896" y="3211122"/>
          <a:ext cx="3730426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Seasonal sales visuals</a:t>
          </a:r>
        </a:p>
      </dsp:txBody>
      <dsp:txXfrm>
        <a:off x="3735896" y="3211122"/>
        <a:ext cx="3730426" cy="288850"/>
      </dsp:txXfrm>
    </dsp:sp>
    <dsp:sp modelId="{C3633374-E7BC-45FF-8CA9-4E673534ACA7}">
      <dsp:nvSpPr>
        <dsp:cNvPr id="0" name=""/>
        <dsp:cNvSpPr/>
      </dsp:nvSpPr>
      <dsp:spPr>
        <a:xfrm>
          <a:off x="7466323" y="3211122"/>
          <a:ext cx="3730426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Top purchased items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66323" y="3211122"/>
        <a:ext cx="3730426" cy="288850"/>
      </dsp:txXfrm>
    </dsp:sp>
    <dsp:sp modelId="{7C0C6265-2665-4457-AD48-54022F4C0DC3}">
      <dsp:nvSpPr>
        <dsp:cNvPr id="0" name=""/>
        <dsp:cNvSpPr/>
      </dsp:nvSpPr>
      <dsp:spPr>
        <a:xfrm rot="10800000">
          <a:off x="0" y="1915401"/>
          <a:ext cx="11202219" cy="9660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KPI Development</a:t>
          </a:r>
        </a:p>
      </dsp:txBody>
      <dsp:txXfrm rot="-10800000">
        <a:off x="0" y="1915401"/>
        <a:ext cx="11202219" cy="339085"/>
      </dsp:txXfrm>
    </dsp:sp>
    <dsp:sp modelId="{1A2C1FEB-B2F7-4498-AB3E-0E82D2B658B6}">
      <dsp:nvSpPr>
        <dsp:cNvPr id="0" name=""/>
        <dsp:cNvSpPr/>
      </dsp:nvSpPr>
      <dsp:spPr>
        <a:xfrm>
          <a:off x="5469" y="2254487"/>
          <a:ext cx="3730426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Total Revenue</a:t>
          </a:r>
        </a:p>
      </dsp:txBody>
      <dsp:txXfrm>
        <a:off x="5469" y="2254487"/>
        <a:ext cx="3730426" cy="288850"/>
      </dsp:txXfrm>
    </dsp:sp>
    <dsp:sp modelId="{120F1184-30E7-4F8D-99F8-7785D7C16B01}">
      <dsp:nvSpPr>
        <dsp:cNvPr id="0" name=""/>
        <dsp:cNvSpPr/>
      </dsp:nvSpPr>
      <dsp:spPr>
        <a:xfrm>
          <a:off x="3735896" y="2254487"/>
          <a:ext cx="3730426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Customer Count</a:t>
          </a:r>
        </a:p>
      </dsp:txBody>
      <dsp:txXfrm>
        <a:off x="3735896" y="2254487"/>
        <a:ext cx="3730426" cy="288850"/>
      </dsp:txXfrm>
    </dsp:sp>
    <dsp:sp modelId="{36444CC0-7532-4A93-B252-679E563769ED}">
      <dsp:nvSpPr>
        <dsp:cNvPr id="0" name=""/>
        <dsp:cNvSpPr/>
      </dsp:nvSpPr>
      <dsp:spPr>
        <a:xfrm>
          <a:off x="7466323" y="2254487"/>
          <a:ext cx="3730426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Revenue by Category/Item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66323" y="2254487"/>
        <a:ext cx="3730426" cy="288850"/>
      </dsp:txXfrm>
    </dsp:sp>
    <dsp:sp modelId="{F125DB09-012E-4B42-9A95-3BB87FDB31CC}">
      <dsp:nvSpPr>
        <dsp:cNvPr id="0" name=""/>
        <dsp:cNvSpPr/>
      </dsp:nvSpPr>
      <dsp:spPr>
        <a:xfrm rot="10800000">
          <a:off x="0" y="958766"/>
          <a:ext cx="11202219" cy="9660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Preparation</a:t>
          </a:r>
        </a:p>
      </dsp:txBody>
      <dsp:txXfrm rot="-10800000">
        <a:off x="0" y="958766"/>
        <a:ext cx="11202219" cy="339085"/>
      </dsp:txXfrm>
    </dsp:sp>
    <dsp:sp modelId="{B763757E-ABFA-42EB-9798-1D9FC1C8CF52}">
      <dsp:nvSpPr>
        <dsp:cNvPr id="0" name=""/>
        <dsp:cNvSpPr/>
      </dsp:nvSpPr>
      <dsp:spPr>
        <a:xfrm>
          <a:off x="0" y="1297852"/>
          <a:ext cx="5601109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 missing / null values</a:t>
          </a:r>
        </a:p>
      </dsp:txBody>
      <dsp:txXfrm>
        <a:off x="0" y="1297852"/>
        <a:ext cx="5601109" cy="288850"/>
      </dsp:txXfrm>
    </dsp:sp>
    <dsp:sp modelId="{F5613BED-20F4-4BF6-AC64-AC87FA86BB7D}">
      <dsp:nvSpPr>
        <dsp:cNvPr id="0" name=""/>
        <dsp:cNvSpPr/>
      </dsp:nvSpPr>
      <dsp:spPr>
        <a:xfrm>
          <a:off x="5601109" y="1297852"/>
          <a:ext cx="5601109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Age Groups</a:t>
          </a:r>
        </a:p>
      </dsp:txBody>
      <dsp:txXfrm>
        <a:off x="5601109" y="1297852"/>
        <a:ext cx="5601109" cy="288850"/>
      </dsp:txXfrm>
    </dsp:sp>
    <dsp:sp modelId="{C8C596CF-354F-479A-8F9B-539C71848267}">
      <dsp:nvSpPr>
        <dsp:cNvPr id="0" name=""/>
        <dsp:cNvSpPr/>
      </dsp:nvSpPr>
      <dsp:spPr>
        <a:xfrm rot="10800000">
          <a:off x="0" y="2131"/>
          <a:ext cx="11202219" cy="9660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Collection</a:t>
          </a:r>
        </a:p>
      </dsp:txBody>
      <dsp:txXfrm rot="-10800000">
        <a:off x="0" y="2131"/>
        <a:ext cx="11202219" cy="339085"/>
      </dsp:txXfrm>
    </dsp:sp>
    <dsp:sp modelId="{259487C1-E8C8-4ABA-9E74-5600DE3FEC31}">
      <dsp:nvSpPr>
        <dsp:cNvPr id="0" name=""/>
        <dsp:cNvSpPr/>
      </dsp:nvSpPr>
      <dsp:spPr>
        <a:xfrm>
          <a:off x="0" y="341217"/>
          <a:ext cx="11202219" cy="2888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Imported sales transaction data</a:t>
          </a:r>
        </a:p>
      </dsp:txBody>
      <dsp:txXfrm>
        <a:off x="0" y="341217"/>
        <a:ext cx="11202219" cy="2888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50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716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889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71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048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608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40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544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18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382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2971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776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924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4592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369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82295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66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7FD5DD9-A8FC-437C-BB65-D9094C0371FF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41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11CC-75AF-A21A-57CB-24CBAA57D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9758852" cy="2677648"/>
          </a:xfrm>
        </p:spPr>
        <p:txBody>
          <a:bodyPr anchor="ctr"/>
          <a:lstStyle/>
          <a:p>
            <a:pPr algn="ctr"/>
            <a:r>
              <a:rPr kumimoji="0" lang="en" sz="8000" b="1" i="0" u="none" strike="noStrike" kern="0" cap="none" spc="30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  <a:ea typeface="Century Gothic"/>
                <a:cs typeface="Century Gothic"/>
                <a:sym typeface="Century Gothic"/>
              </a:rPr>
              <a:t>Store Sales Data</a:t>
            </a:r>
            <a:endParaRPr lang="en-CA" sz="16600" b="1" spc="300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38AF02F-B917-7A42-F406-DB2ECAA3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5052682"/>
            <a:ext cx="8825658" cy="861420"/>
          </a:xfrm>
        </p:spPr>
        <p:txBody>
          <a:bodyPr>
            <a:noAutofit/>
          </a:bodyPr>
          <a:lstStyle/>
          <a:p>
            <a:pPr algn="l"/>
            <a:r>
              <a:rPr lang="en-CA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Amol Crasta</a:t>
            </a:r>
          </a:p>
          <a:p>
            <a:pPr algn="l"/>
            <a:r>
              <a:rPr lang="en-CA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ID:  ZTS/25/0116</a:t>
            </a:r>
          </a:p>
          <a:p>
            <a:pPr algn="l"/>
            <a:r>
              <a:rPr lang="en-CA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11/02/2026</a:t>
            </a:r>
          </a:p>
        </p:txBody>
      </p:sp>
    </p:spTree>
    <p:extLst>
      <p:ext uri="{BB962C8B-B14F-4D97-AF65-F5344CB8AC3E}">
        <p14:creationId xmlns:p14="http://schemas.microsoft.com/office/powerpoint/2010/main" val="348703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3DA5-5E3A-51CA-0172-ADE05FAA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Contents /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1EF2-BBB5-5756-E578-B49981F7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5" y="2468032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 – Insights &amp; Recommendations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&amp; Methodology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Explanatory Data Analysis (EDA)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Recommendations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9261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ACDB-B2C0-C4F1-AC3A-A786F82A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41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cs typeface="Times New Roman" panose="02020603050405020304" pitchFamily="18" charset="0"/>
              </a:rPr>
              <a:t>Executive Summary :</a:t>
            </a:r>
            <a:br>
              <a:rPr lang="en-US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cs typeface="Times New Roman" panose="02020603050405020304" pitchFamily="18" charset="0"/>
              </a:rPr>
              <a:t>Insights &amp; Recommendations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cs typeface="Times New Roman" panose="02020603050405020304" pitchFamily="18" charset="0"/>
              </a:rPr>
            </a:br>
            <a:endParaRPr lang="en-CA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1C204-3D63-8E73-0932-DA480F6F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2386374"/>
            <a:ext cx="11198606" cy="20852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generated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of 1.21M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5,000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overall sales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highest revenue-generating category (~760K), contributing a dominant share compared to other categories.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relatively balanced sales, with slight peaks across Spring and Winter periods.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purchased items 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Sandals, Formal Shoes, Sneakers, Yoga Mats, and Dumbbells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strong demand in lifestyle and fitness products.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Laptops and Mobile Phones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top revenue drivers among all products.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7226D2-D7AC-F6F3-336D-34A9458AAC57}"/>
              </a:ext>
            </a:extLst>
          </p:cNvPr>
          <p:cNvSpPr txBox="1">
            <a:spLocks/>
          </p:cNvSpPr>
          <p:nvPr/>
        </p:nvSpPr>
        <p:spPr>
          <a:xfrm>
            <a:off x="471948" y="4987823"/>
            <a:ext cx="11198606" cy="18701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inventory, promotions, and supplier partnerships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category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high-revenue momentum.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Diversify marketing strategies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boost lower-performing categories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Beauty, Groceries, and Accessories.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campaigns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different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category penetration.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sales insights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promotional calendar planning.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8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5846-50D9-7C6C-922B-B1F16F4D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  <a:ea typeface="Century Gothic"/>
                <a:cs typeface="Times New Roman" panose="02020603050405020304" pitchFamily="18" charset="0"/>
                <a:sym typeface="Century Gothic"/>
              </a:rPr>
              <a:t>Business Problem Overview</a:t>
            </a:r>
            <a:endParaRPr lang="en-CA" sz="3200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13FA-AD1D-350A-CF88-DD463E7B4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96" y="2583836"/>
            <a:ext cx="11096039" cy="34163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and individual items contribute the most to total revenue?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customer demographics such as gender and age group impact purchasing patterns?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seasonal trends affecting sales performance?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have the highest purchase frequency?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satisfied are customers based on product/category ratings?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payment methods are most preferred by customers?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12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18C0-C1D9-A747-231A-8A7ACEDE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kern="0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ea typeface="Century Gothic"/>
                <a:cs typeface="Century Gothic"/>
                <a:sym typeface="Century Gothic"/>
              </a:rPr>
              <a:t>Solution Approach</a:t>
            </a:r>
            <a:endParaRPr lang="en-CA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BC1B-4145-4E6E-B042-D4C5D00E1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281084"/>
            <a:ext cx="11080955" cy="446384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CA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/ Key Questions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Integration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data consistency across categories, items, and customer attributes.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and inconsistent values.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category and product naming.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derived fields such as Age Groups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&amp; Measure Creation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key business metrics using DAX, including: Total Revenue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interactive dashboard layout for executive consumption.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slicers for Gender and Age Group filtering.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drill-down visuals for Category and Item analysis.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Insights Delivery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charts for Revenue by Category, Item, and Season.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Top Purchased Items and Payment Method distribution.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real-time filtering for dynamic business insights.</a:t>
            </a: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3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6316-3028-31FC-26B5-AB577C17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  <a:ea typeface="Century Gothic"/>
                <a:cs typeface="Times New Roman" panose="02020603050405020304" pitchFamily="18" charset="0"/>
                <a:sym typeface="Century Gothic"/>
              </a:rPr>
              <a:t>Data Dictionary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8140D7A-8B92-2D99-408D-2EA84BF99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19294"/>
              </p:ext>
            </p:extLst>
          </p:nvPr>
        </p:nvGraphicFramePr>
        <p:xfrm>
          <a:off x="501445" y="2369574"/>
          <a:ext cx="11228439" cy="4149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71">
                  <a:extLst>
                    <a:ext uri="{9D8B030D-6E8A-4147-A177-3AD203B41FA5}">
                      <a16:colId xmlns:a16="http://schemas.microsoft.com/office/drawing/2014/main" val="4151447010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1805883792"/>
                    </a:ext>
                  </a:extLst>
                </a:gridCol>
                <a:gridCol w="2546555">
                  <a:extLst>
                    <a:ext uri="{9D8B030D-6E8A-4147-A177-3AD203B41FA5}">
                      <a16:colId xmlns:a16="http://schemas.microsoft.com/office/drawing/2014/main" val="2353827316"/>
                    </a:ext>
                  </a:extLst>
                </a:gridCol>
                <a:gridCol w="5525729">
                  <a:extLst>
                    <a:ext uri="{9D8B030D-6E8A-4147-A177-3AD203B41FA5}">
                      <a16:colId xmlns:a16="http://schemas.microsoft.com/office/drawing/2014/main" val="3459581119"/>
                    </a:ext>
                  </a:extLst>
                </a:gridCol>
              </a:tblGrid>
              <a:tr h="58334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and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567353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endParaRPr lang="en-IN" sz="16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Unique IDs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assigned to each customer.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6326451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— 70 yrs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age of the customer, useful for demographic segmentation.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5135674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Male, Female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gender of the customer.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5620301"/>
                  </a:ext>
                </a:extLst>
              </a:tr>
              <a:tr h="50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Categories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broader classification of the product (e.g., Electronics, Clothing).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7240622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ItemPurchased</a:t>
                      </a:r>
                      <a:endParaRPr lang="en-IN" sz="16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30+ Items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specific item bought by the customer.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3406758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$5.00 — $3,000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total transaction value in USD.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88232319"/>
                  </a:ext>
                </a:extLst>
              </a:tr>
              <a:tr h="50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Seasons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season during which the purchase was made (Spring, Summer, Autumn, Winter).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3775865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PaymentMethod</a:t>
                      </a:r>
                      <a:endParaRPr lang="en-IN" sz="16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Card, Cash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method used for payment.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34971682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ItemRating</a:t>
                      </a:r>
                      <a:endParaRPr lang="en-IN" sz="16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 — 5.0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customer satisfaction score for the purchased item.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54764630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DiscountApplied</a:t>
                      </a: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0% — 32%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discount percentage applied to the transaction.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6533648"/>
                  </a:ext>
                </a:extLst>
              </a:tr>
              <a:tr h="2835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PreviousPurchases</a:t>
                      </a:r>
                      <a:endParaRPr lang="en-IN" sz="16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— 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number of prior purchases made by this customer.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5125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8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6ACA2-3612-6FD5-F543-DB20C92A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  <a:ea typeface="Century Gothic"/>
                <a:cs typeface="Century Gothic"/>
                <a:sym typeface="Century Gothic"/>
              </a:rPr>
              <a:t>Solution Design &amp; Methodology</a:t>
            </a:r>
            <a:endParaRPr lang="en-CA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7ADC2B2-7B11-1D30-2F85-A81037E859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5162550"/>
              </p:ext>
            </p:extLst>
          </p:nvPr>
        </p:nvGraphicFramePr>
        <p:xfrm>
          <a:off x="488335" y="2295834"/>
          <a:ext cx="11202220" cy="4458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54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2561-97C1-5C00-B7A8-03977CF8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109740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DE14-B81F-03FC-3A01-DE8D1BBC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kern="0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  <a:ea typeface="Century Gothic"/>
                <a:cs typeface="Century Gothic"/>
                <a:sym typeface="Century Gothic"/>
              </a:rPr>
              <a:t>EDA Results: Data at Hand</a:t>
            </a:r>
            <a:endParaRPr lang="en-CA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E1BA-08D7-94E9-B477-0479FA67A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277" y="2290915"/>
            <a:ext cx="11346426" cy="44982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5,000 rows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row represents an individual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transaction / purchase record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columns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into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dimensions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 Information, Product Details, Sales Metrics, Customer Experience, Time Dimension, Payment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target variable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represents the sales value generated per transaction, evaluate product performance, category contribution, and overall business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key customer demographics.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Customers: 2,504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Customers: 2,496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aggregated metrics identified: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1.21M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Count: 5,000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Rating: 3.78 / 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purchased items include Sandals, Formal Shoes, and Sneakers — indicating strong footwear demand.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items like Laptops and Mobile Phones drive maximum revenue.</a:t>
            </a:r>
            <a:endParaRPr lang="en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63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DF47-28EF-A035-B292-2887FA25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EDA –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AD7A6-31ED-35FC-9911-E2E463FE6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786" y="2603500"/>
            <a:ext cx="8052619" cy="17915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recorded: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1.21M.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values vary significantly across products and categories.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 items (e.g., Electronics) contribute disproportionately higher revenue.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7090C-5DAF-B795-A39B-08C05DF8C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5405" y="2465983"/>
            <a:ext cx="2558465" cy="4190455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</a:t>
            </a:r>
          </a:p>
          <a:p>
            <a:pPr marL="457200" lvl="1" indent="0"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68F5F-3AB7-AA33-D8F6-BE16682DA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239" y="2981262"/>
            <a:ext cx="1143160" cy="8954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2EDA72-C00A-28BD-2464-DF913CC52FE6}"/>
              </a:ext>
            </a:extLst>
          </p:cNvPr>
          <p:cNvSpPr txBox="1">
            <a:spLocks/>
          </p:cNvSpPr>
          <p:nvPr/>
        </p:nvSpPr>
        <p:spPr>
          <a:xfrm>
            <a:off x="422786" y="4614196"/>
            <a:ext cx="8052619" cy="1791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Gender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a nearly equal gender split, indicating balanced customer representation.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BFFB48-9C9D-861E-77F1-1AC2C4129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245" y="4614196"/>
            <a:ext cx="188621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0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904B-5EC8-ABD4-2BAE-E49C7608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Univariate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DCEE8-9934-DF0D-3FD6-EA3E5C3A8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529" y="2682158"/>
            <a:ext cx="4825158" cy="3416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Item-Level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items include: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Headphones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frequently purchased items: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Sandals	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Shoes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Sneakers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CEBA8-442E-1469-8D8E-39934B261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5303" y="2682158"/>
            <a:ext cx="4296697" cy="3416300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endParaRPr lang="en-C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45ECF9-E396-EE3D-3AF7-CC3896DE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303" y="3316565"/>
            <a:ext cx="3648584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8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17AE7-CE10-D629-5FCA-969CA8E7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02BD-D6E4-6EA3-4783-CCCE4AF5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Univariate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1FE6-C5AC-6B45-3E0F-0C5833E16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528" y="2682159"/>
            <a:ext cx="6701019" cy="1708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segmented into 6 age groups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purchasing activity observed in mid-age segments (18–45)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age groups show relatively lower participation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C6E17-86AE-95CC-8525-FC091CF11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5303" y="2468032"/>
            <a:ext cx="4296697" cy="3416300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A9DC1-485A-0C84-5C28-F940944B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24" y="2852022"/>
            <a:ext cx="2438740" cy="132416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8A5578-81ED-7F83-6A9A-7EDC36BF739A}"/>
              </a:ext>
            </a:extLst>
          </p:cNvPr>
          <p:cNvSpPr txBox="1">
            <a:spLocks/>
          </p:cNvSpPr>
          <p:nvPr/>
        </p:nvSpPr>
        <p:spPr>
          <a:xfrm>
            <a:off x="476528" y="4746933"/>
            <a:ext cx="6701019" cy="1708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Rating: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3.78 / 5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range approximately between 3.7 – 3.9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stable but moderate customer satisfaction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378CD1-597C-E6D9-56A6-E406FFE23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464" y="5138981"/>
            <a:ext cx="1171739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1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0C54-6511-726E-ADC5-CC4DBB22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1F66-3D5C-5AD5-B736-83CDA932B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Univariate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5264-A286-E132-084B-922CA2567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528" y="2682159"/>
            <a:ext cx="6701019" cy="1708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Distribution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Payments dominate transactions (4,009)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on Delivery accounts for a smaller share (991)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strong digital payment adoption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A818F-0C33-F3AF-3CD9-1947CEBC7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5303" y="2468032"/>
            <a:ext cx="4296697" cy="3416300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FAAD68-78AE-101E-3E2A-325C989C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458" y="3021812"/>
            <a:ext cx="170521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3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52AD-89DF-79C5-B1B1-9C5B7401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Results EDA –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E023-2B91-77BA-F44E-B2B0A99A0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28" y="2397023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revenue is concentrated rather than evenly distributed.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performance varies significantly.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and high-volume products differ.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base is demographically balanced.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customers fall within active earning age brackets.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is stable but moderate.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preference for digital payments.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B5F3-018E-5622-08FC-8B6EA53A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</a:t>
            </a:r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B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ivariate</a:t>
            </a: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1C36-B80C-E2B2-68ED-D2D7157F4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193" y="2468031"/>
            <a:ext cx="4825158" cy="4039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vs Category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generates the highest revenue among all categories.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Footwear and Sports contribute moderate revenue.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Beauty, Accessories, and Groceries show lower revenue impact.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is highly concentrated in specific product categories.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AC28D-72AA-D0C5-6D06-4DB722443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1350" y="2468032"/>
            <a:ext cx="4825159" cy="39996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89828-CA50-B710-3A86-E3760527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695" y="2877526"/>
            <a:ext cx="6468378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2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DB1C-F3CF-4D04-29D0-6C6A14D5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6AC7-5744-AE38-E6D0-00E59B52D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</a:t>
            </a:r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B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ivariate</a:t>
            </a: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36D48-0CA0-DD61-9B61-E8AF0C46D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193" y="2468031"/>
            <a:ext cx="4825158" cy="4039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vs Item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items such as Laptops and Mobile Phones generate maximum revenue.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revenue items include Headphones and Smart Watches.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Lower-value items contribute smaller revenue shares.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 electronics drive revenue, while lifestyle items drive volume.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2466B-AB8F-2987-81F4-FF0CA932B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1350" y="2468032"/>
            <a:ext cx="4825159" cy="39996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D0504E-E35C-0D87-3372-1FF43EED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842" y="2868000"/>
            <a:ext cx="6449325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8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FF19-0D22-F38E-FDDA-D538EDB9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8420-7805-B229-F70F-0185C5DA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</a:t>
            </a:r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B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ivariate</a:t>
            </a: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258C-21F0-BDD1-EBA6-2F9BB35C3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193" y="2468031"/>
            <a:ext cx="4825158" cy="4039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vs Season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fluctuate across seasons.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and Winter show relatively higher revenue peaks.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and Autumn maintain moderate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Seasonal demand impacts purchasing behavior and sales planning.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ADDEA-38D6-6F5E-B51E-9626890F4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1350" y="2468032"/>
            <a:ext cx="4825159" cy="39996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D0C001-2EDC-D533-09A9-1DB5B7CD7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28" y="2977506"/>
            <a:ext cx="2730655" cy="290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9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C09C8-A139-E01B-F5A7-B0819602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8A44-DF35-697A-E22B-5A205A5E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EDA – </a:t>
            </a:r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B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ivariate</a:t>
            </a: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roadway" panose="04040905080B02020502" pitchFamily="82" charset="0"/>
              </a:rPr>
              <a:t> Analysis</a:t>
            </a:r>
            <a:endParaRPr lang="en-CA" b="1" dirty="0">
              <a:solidFill>
                <a:schemeClr val="bg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C9FD-5E9C-FA81-4509-3D2EF9D30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193" y="2468031"/>
            <a:ext cx="4825158" cy="4039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vs Rating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remain consistent (~3.7 – 3.9) across categories.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category shows extremely high or low satisfaction.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experience is stable but lacks standout excellence.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CF7F0-111B-7795-72E2-38EC2F40C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1350" y="2468032"/>
            <a:ext cx="4825159" cy="39996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57F46A-9F03-8C44-547F-6BD5C73A8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660" y="2936826"/>
            <a:ext cx="645885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9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F0B2-5C85-F7A0-AA6D-E12AE549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3A51-7801-2726-E4EF-4366FE46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619" y="985684"/>
            <a:ext cx="8761413" cy="706964"/>
          </a:xfrm>
        </p:spPr>
        <p:txBody>
          <a:bodyPr/>
          <a:lstStyle/>
          <a:p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Results EDA – 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25498-29B4-69EF-E757-24E14B084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9" y="2593668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is heavily concentrated in a few core categories.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electronics drive business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impacts revenue cycles.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purchases are gender-balanced.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 is uniform across product lines.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52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B4D4-ECDA-1C37-3043-8D9C1B5C6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76403"/>
            <a:ext cx="10515600" cy="870822"/>
          </a:xfrm>
        </p:spPr>
        <p:txBody>
          <a:bodyPr/>
          <a:lstStyle/>
          <a:p>
            <a:r>
              <a:rPr lang="en-CA" b="1" dirty="0">
                <a:solidFill>
                  <a:schemeClr val="bg2">
                    <a:lumMod val="75000"/>
                  </a:schemeClr>
                </a:solidFill>
                <a:latin typeface="Broadway" panose="04040905080B02020502" pitchFamily="82" charset="0"/>
              </a:rPr>
              <a:t>Conclusions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81698-D15F-0740-68BE-AE217FC55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0" y="2251583"/>
            <a:ext cx="5601929" cy="460641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generated strong overall revenue (</a:t>
            </a: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1.21M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a diverse base of 5,000 customers.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is highly concentrated in the </a:t>
            </a: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category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the primary business driver.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items such as Laptops and Mobile Phones contribute the largest share of sales value.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Footwear products show high purchase frequency, indicating strong demand in lifestyle segments.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are balanced, with nearly equal participation from Male and Female customers.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sales fluctuations exist but remain relatively stable across the year.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levels are moderate (average rating ~3.78), indicating scope for service/product improvement.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dominate transactions, reflecting customer preference for cashless purchasing.</a:t>
            </a:r>
          </a:p>
          <a:p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8AA9F1-192F-294D-557D-F5AF4CBE4AEE}"/>
              </a:ext>
            </a:extLst>
          </p:cNvPr>
          <p:cNvSpPr txBox="1">
            <a:spLocks/>
          </p:cNvSpPr>
          <p:nvPr/>
        </p:nvSpPr>
        <p:spPr>
          <a:xfrm>
            <a:off x="6309850" y="2251585"/>
            <a:ext cx="5388079" cy="4375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inventory and marketing investments in high-revenue categories like Electronics.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cross-selling and bundling strategies for footwear and fitness products to leverage high demand.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low-performing categories through targeted promotions and pricing optimization.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experience initiatives to increase product ratings and loyalty.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seasonal sales insights for better demand forecasting and promotional planning.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digital payment adoption further through rewards and cashback programs.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continuous KPI monitoring dashboards for real-time executive decision-making.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562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BFE389-3740-D198-727F-3965B1D7B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IN" sz="8000" dirty="0">
                <a:latin typeface="Broadway" panose="04040905080B020205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042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700</TotalTime>
  <Words>1423</Words>
  <Application>Microsoft Office PowerPoint</Application>
  <PresentationFormat>Widescreen</PresentationFormat>
  <Paragraphs>228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Broadway</vt:lpstr>
      <vt:lpstr>Century Gothic</vt:lpstr>
      <vt:lpstr>Times New Roman</vt:lpstr>
      <vt:lpstr>Wingdings</vt:lpstr>
      <vt:lpstr>Wingdings 3</vt:lpstr>
      <vt:lpstr>Ion Boardroom</vt:lpstr>
      <vt:lpstr>Store Sales Data</vt:lpstr>
      <vt:lpstr>Contents / Agenda</vt:lpstr>
      <vt:lpstr> Executive Summary : Insights &amp; Recommendations </vt:lpstr>
      <vt:lpstr>Business Problem Overview</vt:lpstr>
      <vt:lpstr>Solution Approach</vt:lpstr>
      <vt:lpstr>Data Dictionary</vt:lpstr>
      <vt:lpstr>Solution Design &amp; Methodology</vt:lpstr>
      <vt:lpstr>Exploratory Data Analysis (EDA)</vt:lpstr>
      <vt:lpstr>EDA Results: Data at Hand</vt:lpstr>
      <vt:lpstr>EDA – Univariate Analysis</vt:lpstr>
      <vt:lpstr>EDA – Univariate Analysis</vt:lpstr>
      <vt:lpstr>EDA – Univariate Analysis</vt:lpstr>
      <vt:lpstr>EDA – Univariate Analysis</vt:lpstr>
      <vt:lpstr>Results EDA – Univariate Analysis</vt:lpstr>
      <vt:lpstr>EDA – Bivariate Analysis</vt:lpstr>
      <vt:lpstr>EDA – Bivariate Analysis</vt:lpstr>
      <vt:lpstr>EDA – Bivariate Analysis</vt:lpstr>
      <vt:lpstr>EDA – Bivariate Analysis</vt:lpstr>
      <vt:lpstr>Results EDA – Bivariate Analysis</vt:lpstr>
      <vt:lpstr>Conclusions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Ramkalawan, Daryl</dc:creator>
  <cp:lastModifiedBy>Amol Crasta</cp:lastModifiedBy>
  <cp:revision>7</cp:revision>
  <dcterms:created xsi:type="dcterms:W3CDTF">2024-11-08T03:35:32Z</dcterms:created>
  <dcterms:modified xsi:type="dcterms:W3CDTF">2026-02-10T18:57:47Z</dcterms:modified>
</cp:coreProperties>
</file>